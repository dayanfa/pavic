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Rajdhani Bold" charset="1" panose="02000000000000000000"/>
      <p:regular r:id="rId25"/>
    </p:embeddedFont>
    <p:embeddedFont>
      <p:font typeface="Roboto" charset="1" panose="02000000000000000000"/>
      <p:regular r:id="rId26"/>
    </p:embeddedFont>
    <p:embeddedFont>
      <p:font typeface="Roboto Bold" charset="1" panose="02000000000000000000"/>
      <p:regular r:id="rId27"/>
    </p:embeddedFont>
    <p:embeddedFont>
      <p:font typeface="Rajdhani" charset="1" panose="02000000000000000000"/>
      <p:regular r:id="rId29"/>
    </p:embeddedFont>
    <p:embeddedFont>
      <p:font typeface="Fira Code Bold" charset="1" panose="020B0809050000020004"/>
      <p:regular r:id="rId36"/>
    </p:embeddedFont>
    <p:embeddedFont>
      <p:font typeface="Fira Code" charset="1" panose="020B0809050000020004"/>
      <p:regular r:id="rId37"/>
    </p:embeddedFont>
    <p:embeddedFont>
      <p:font typeface="Roboto Italics" charset="1" panose="0200000000000000000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5493544" y="6471571"/>
            <a:ext cx="7300912" cy="2965999"/>
          </a:xfrm>
          <a:custGeom>
            <a:avLst/>
            <a:gdLst/>
            <a:ahLst/>
            <a:cxnLst/>
            <a:rect r="r" b="b" t="t" l="l"/>
            <a:pathLst>
              <a:path h="2965999" w="7300912">
                <a:moveTo>
                  <a:pt x="0" y="0"/>
                </a:moveTo>
                <a:lnTo>
                  <a:pt x="7300912" y="0"/>
                </a:lnTo>
                <a:lnTo>
                  <a:pt x="7300912" y="2965999"/>
                </a:lnTo>
                <a:lnTo>
                  <a:pt x="0" y="2965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8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193381" y="1558004"/>
            <a:ext cx="9901238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PAVIC LAB 2025</a:t>
            </a:r>
          </a:p>
        </p:txBody>
      </p:sp>
      <p:sp>
        <p:nvSpPr>
          <p:cNvPr name="Freeform 7" id="7" descr="image.png"/>
          <p:cNvSpPr/>
          <p:nvPr/>
        </p:nvSpPr>
        <p:spPr>
          <a:xfrm flipH="false" flipV="false" rot="0">
            <a:off x="4429125" y="3585496"/>
            <a:ext cx="9429750" cy="714375"/>
          </a:xfrm>
          <a:custGeom>
            <a:avLst/>
            <a:gdLst/>
            <a:ahLst/>
            <a:cxnLst/>
            <a:rect r="r" b="b" t="t" l="l"/>
            <a:pathLst>
              <a:path h="714375" w="9429750">
                <a:moveTo>
                  <a:pt x="0" y="0"/>
                </a:moveTo>
                <a:lnTo>
                  <a:pt x="9429750" y="0"/>
                </a:lnTo>
                <a:lnTo>
                  <a:pt x="942975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00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29125" y="4985671"/>
            <a:ext cx="94297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Sequential × Parallel × Multithread × CUDA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914768" y="7001261"/>
            <a:ext cx="6458464" cy="1906619"/>
            <a:chOff x="0" y="0"/>
            <a:chExt cx="8611286" cy="254215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171450"/>
              <a:ext cx="8611286" cy="6210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b="true" sz="2250">
                  <a:solidFill>
                    <a:srgbClr val="33415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Disciplina:</a:t>
              </a:r>
              <a:r>
                <a:rPr lang="en-US" sz="2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 Programação Paralela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37247"/>
              <a:ext cx="8172450" cy="781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0"/>
                </a:lnSpc>
              </a:pPr>
              <a:r>
                <a:rPr lang="en-US" b="true" sz="2250">
                  <a:solidFill>
                    <a:srgbClr val="334155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Professor:</a:t>
              </a:r>
              <a:r>
                <a:rPr lang="en-US" sz="2250">
                  <a:solidFill>
                    <a:srgbClr val="334155"/>
                  </a:solidFill>
                  <a:latin typeface="Roboto"/>
                  <a:ea typeface="Roboto"/>
                  <a:cs typeface="Roboto"/>
                  <a:sym typeface="Roboto"/>
                </a:rPr>
                <a:t> Antonio Souto Rodriguez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044065"/>
              <a:ext cx="8172450" cy="498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56"/>
                </a:lnSpc>
              </a:pPr>
              <a:r>
                <a:rPr lang="en-US" sz="1800">
                  <a:solidFill>
                    <a:srgbClr val="64748B"/>
                  </a:solidFill>
                  <a:latin typeface="Roboto"/>
                  <a:ea typeface="Roboto"/>
                  <a:cs typeface="Roboto"/>
                  <a:sym typeface="Roboto"/>
                </a:rPr>
                <a:t>Dayan Freitas Alves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4313482"/>
            <a:ext cx="7858125" cy="3629025"/>
          </a:xfrm>
          <a:custGeom>
            <a:avLst/>
            <a:gdLst/>
            <a:ahLst/>
            <a:cxnLst/>
            <a:rect r="r" b="b" t="t" l="l"/>
            <a:pathLst>
              <a:path h="3629025" w="7858125">
                <a:moveTo>
                  <a:pt x="0" y="0"/>
                </a:moveTo>
                <a:lnTo>
                  <a:pt x="7858125" y="0"/>
                </a:lnTo>
                <a:lnTo>
                  <a:pt x="7858125" y="3629025"/>
                </a:lnTo>
                <a:lnTo>
                  <a:pt x="0" y="3629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93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9572625" y="4313482"/>
            <a:ext cx="7858125" cy="3629025"/>
          </a:xfrm>
          <a:custGeom>
            <a:avLst/>
            <a:gdLst/>
            <a:ahLst/>
            <a:cxnLst/>
            <a:rect r="r" b="b" t="t" l="l"/>
            <a:pathLst>
              <a:path h="3629025" w="7858125">
                <a:moveTo>
                  <a:pt x="0" y="0"/>
                </a:moveTo>
                <a:lnTo>
                  <a:pt x="7858125" y="0"/>
                </a:lnTo>
                <a:lnTo>
                  <a:pt x="7858125" y="3629025"/>
                </a:lnTo>
                <a:lnTo>
                  <a:pt x="0" y="3629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39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127885" y="5156444"/>
            <a:ext cx="701611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TEORIA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87075" y="5185019"/>
            <a:ext cx="69875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PRÁTICA</a:t>
            </a:r>
          </a:p>
        </p:txBody>
      </p:sp>
      <p:sp>
        <p:nvSpPr>
          <p:cNvPr name="Freeform 9" id="9" descr="image.png"/>
          <p:cNvSpPr/>
          <p:nvPr/>
        </p:nvSpPr>
        <p:spPr>
          <a:xfrm flipH="false" flipV="false" rot="0">
            <a:off x="1300162" y="5185019"/>
            <a:ext cx="457200" cy="400050"/>
          </a:xfrm>
          <a:custGeom>
            <a:avLst/>
            <a:gdLst/>
            <a:ahLst/>
            <a:cxnLst/>
            <a:rect r="r" b="b" t="t" l="l"/>
            <a:pathLst>
              <a:path h="400050" w="457200">
                <a:moveTo>
                  <a:pt x="0" y="0"/>
                </a:moveTo>
                <a:lnTo>
                  <a:pt x="457200" y="0"/>
                </a:lnTo>
                <a:lnTo>
                  <a:pt x="457200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57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00162" y="57279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1.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Introdução &amp; 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162" y="61851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2.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O Problema do Desempenho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0162" y="66423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3.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Arquitetura CPU vs GPU</a:t>
            </a:r>
          </a:p>
        </p:txBody>
      </p:sp>
      <p:sp>
        <p:nvSpPr>
          <p:cNvPr name="Freeform 13" id="13" descr="image.png"/>
          <p:cNvSpPr/>
          <p:nvPr/>
        </p:nvSpPr>
        <p:spPr>
          <a:xfrm flipH="false" flipV="false" rot="0">
            <a:off x="10015538" y="5185019"/>
            <a:ext cx="500062" cy="400050"/>
          </a:xfrm>
          <a:custGeom>
            <a:avLst/>
            <a:gdLst/>
            <a:ahLst/>
            <a:cxnLst/>
            <a:rect r="r" b="b" t="t" l="l"/>
            <a:pathLst>
              <a:path h="400050" w="500062">
                <a:moveTo>
                  <a:pt x="0" y="0"/>
                </a:moveTo>
                <a:lnTo>
                  <a:pt x="500062" y="0"/>
                </a:lnTo>
                <a:lnTo>
                  <a:pt x="500062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57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015538" y="57279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4.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Implementação CUDA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15538" y="61851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5.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Resultados &amp; Benchmarks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15538" y="6642344"/>
            <a:ext cx="697230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6.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Demonstração Webcam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AGENDA DA APRESENTAÇÃO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9572625" y="3627682"/>
            <a:ext cx="7858125" cy="5000625"/>
          </a:xfrm>
          <a:custGeom>
            <a:avLst/>
            <a:gdLst/>
            <a:ahLst/>
            <a:cxnLst/>
            <a:rect r="r" b="b" t="t" l="l"/>
            <a:pathLst>
              <a:path h="5000625" w="7858125">
                <a:moveTo>
                  <a:pt x="0" y="0"/>
                </a:moveTo>
                <a:lnTo>
                  <a:pt x="7858125" y="0"/>
                </a:lnTo>
                <a:lnTo>
                  <a:pt x="7858125" y="5000625"/>
                </a:lnTo>
                <a:lnTo>
                  <a:pt x="0" y="5000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8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4470644"/>
            <a:ext cx="78581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 processamento de imagens é onipresente, desde filtros em redes sociais até diagnósticos médicos e carros autônomos.</a:t>
            </a:r>
          </a:p>
        </p:txBody>
      </p:sp>
      <p:sp>
        <p:nvSpPr>
          <p:cNvPr name="Freeform 7" id="7" descr="image.png"/>
          <p:cNvSpPr/>
          <p:nvPr/>
        </p:nvSpPr>
        <p:spPr>
          <a:xfrm flipH="false" flipV="false" rot="0">
            <a:off x="9586912" y="3641969"/>
            <a:ext cx="7829550" cy="4972050"/>
          </a:xfrm>
          <a:custGeom>
            <a:avLst/>
            <a:gdLst/>
            <a:ahLst/>
            <a:cxnLst/>
            <a:rect r="r" b="b" t="t" l="l"/>
            <a:pathLst>
              <a:path h="4972050" w="7829550">
                <a:moveTo>
                  <a:pt x="0" y="0"/>
                </a:moveTo>
                <a:lnTo>
                  <a:pt x="7829550" y="0"/>
                </a:lnTo>
                <a:lnTo>
                  <a:pt x="7829550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9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8738" y="582319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95425" y="5670794"/>
            <a:ext cx="72199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📸 </a:t>
            </a: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Bilhões de imagens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geradas diariamente.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8738" y="628039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95425" y="6127994"/>
            <a:ext cx="72199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⚡ </a:t>
            </a: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Tempo real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é um requisito não funcional crítico.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8738" y="673759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5425" y="6585194"/>
            <a:ext cx="72199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⚠️ </a:t>
            </a: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CPUs tradicionais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atingem gargalos físicos em operações massivas de pixels.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INTRODUÇÃO: A NECESSIDADE DE VELOCIDADE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3646679" y="3572110"/>
            <a:ext cx="10994642" cy="60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Uma imagem Full HD (1920x1080) possui mais de </a:t>
            </a:r>
            <a:r>
              <a:rPr lang="en-US" b="true" sz="270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2 Milhões de Pixels</a:t>
            </a: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29475" y="7873975"/>
            <a:ext cx="38290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E94560"/>
                </a:solidFill>
                <a:latin typeface="Roboto Bold"/>
                <a:ea typeface="Roboto Bold"/>
                <a:cs typeface="Roboto Bold"/>
                <a:sym typeface="Roboto Bold"/>
              </a:rPr>
              <a:t>Solução: Paralelismo Massivo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28862" y="5064100"/>
            <a:ext cx="7000875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336ms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28862" y="6921475"/>
            <a:ext cx="70008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TEMPO SEQUENCIAL (FILTRO MEDIAN)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72962" y="5064100"/>
            <a:ext cx="3686175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33ms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72962" y="6921475"/>
            <a:ext cx="36861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LIMITE PARA 30 FPS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O PROBLEMA SEQUENCIAL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4149176"/>
            <a:ext cx="3821906" cy="3957638"/>
          </a:xfrm>
          <a:custGeom>
            <a:avLst/>
            <a:gdLst/>
            <a:ahLst/>
            <a:cxnLst/>
            <a:rect r="r" b="b" t="t" l="l"/>
            <a:pathLst>
              <a:path h="3957638" w="3821906">
                <a:moveTo>
                  <a:pt x="0" y="0"/>
                </a:moveTo>
                <a:lnTo>
                  <a:pt x="3821906" y="0"/>
                </a:lnTo>
                <a:lnTo>
                  <a:pt x="3821906" y="3957637"/>
                </a:lnTo>
                <a:lnTo>
                  <a:pt x="0" y="3957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73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5107781" y="4149176"/>
            <a:ext cx="3821906" cy="3957638"/>
          </a:xfrm>
          <a:custGeom>
            <a:avLst/>
            <a:gdLst/>
            <a:ahLst/>
            <a:cxnLst/>
            <a:rect r="r" b="b" t="t" l="l"/>
            <a:pathLst>
              <a:path h="3957638" w="3821906">
                <a:moveTo>
                  <a:pt x="0" y="0"/>
                </a:moveTo>
                <a:lnTo>
                  <a:pt x="3821907" y="0"/>
                </a:lnTo>
                <a:lnTo>
                  <a:pt x="3821907" y="3957637"/>
                </a:lnTo>
                <a:lnTo>
                  <a:pt x="0" y="39576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73"/>
            </a:stretch>
          </a:blipFill>
        </p:spPr>
      </p:sp>
      <p:sp>
        <p:nvSpPr>
          <p:cNvPr name="Freeform 5" id="5" descr="image.png"/>
          <p:cNvSpPr/>
          <p:nvPr/>
        </p:nvSpPr>
        <p:spPr>
          <a:xfrm flipH="false" flipV="false" rot="0">
            <a:off x="9358312" y="4149176"/>
            <a:ext cx="3821906" cy="3957638"/>
          </a:xfrm>
          <a:custGeom>
            <a:avLst/>
            <a:gdLst/>
            <a:ahLst/>
            <a:cxnLst/>
            <a:rect r="r" b="b" t="t" l="l"/>
            <a:pathLst>
              <a:path h="3957638" w="3821906">
                <a:moveTo>
                  <a:pt x="0" y="0"/>
                </a:moveTo>
                <a:lnTo>
                  <a:pt x="3821907" y="0"/>
                </a:lnTo>
                <a:lnTo>
                  <a:pt x="3821907" y="3957637"/>
                </a:lnTo>
                <a:lnTo>
                  <a:pt x="0" y="39576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73"/>
            </a:stretch>
          </a:blipFill>
        </p:spPr>
      </p:sp>
      <p:sp>
        <p:nvSpPr>
          <p:cNvPr name="Freeform 6" id="6" descr="image.png"/>
          <p:cNvSpPr/>
          <p:nvPr/>
        </p:nvSpPr>
        <p:spPr>
          <a:xfrm flipH="false" flipV="false" rot="0">
            <a:off x="13608844" y="4149176"/>
            <a:ext cx="3821906" cy="3957638"/>
          </a:xfrm>
          <a:custGeom>
            <a:avLst/>
            <a:gdLst/>
            <a:ahLst/>
            <a:cxnLst/>
            <a:rect r="r" b="b" t="t" l="l"/>
            <a:pathLst>
              <a:path h="3957638" w="3821906">
                <a:moveTo>
                  <a:pt x="0" y="0"/>
                </a:moveTo>
                <a:lnTo>
                  <a:pt x="3821906" y="0"/>
                </a:lnTo>
                <a:lnTo>
                  <a:pt x="3821906" y="3957637"/>
                </a:lnTo>
                <a:lnTo>
                  <a:pt x="0" y="39576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7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26763" y="5663651"/>
            <a:ext cx="30828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SEQUENTIAL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0162" y="6292301"/>
            <a:ext cx="29360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CPU Single-thread (Baseline)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7294" y="5663651"/>
            <a:ext cx="30828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PARALLEL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50694" y="6292301"/>
            <a:ext cx="29360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OpenMP (Multi-core auto)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7825" y="5663651"/>
            <a:ext cx="30828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MULTITHREAD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1225" y="6292301"/>
            <a:ext cx="29360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C++ std::thread (Manual)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78357" y="5663651"/>
            <a:ext cx="308288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CUDA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51756" y="6292301"/>
            <a:ext cx="2936081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GPU NVIDIA (Paralelismo Massivo)</a:t>
            </a:r>
          </a:p>
        </p:txBody>
      </p:sp>
      <p:sp>
        <p:nvSpPr>
          <p:cNvPr name="Freeform 17" id="17" descr="image.png"/>
          <p:cNvSpPr/>
          <p:nvPr/>
        </p:nvSpPr>
        <p:spPr>
          <a:xfrm flipH="false" flipV="false" rot="0">
            <a:off x="2482453" y="4620663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2500"/>
            </a:stretch>
          </a:blipFill>
        </p:spPr>
      </p:sp>
      <p:sp>
        <p:nvSpPr>
          <p:cNvPr name="Freeform 18" id="18" descr="image.png"/>
          <p:cNvSpPr/>
          <p:nvPr/>
        </p:nvSpPr>
        <p:spPr>
          <a:xfrm flipH="false" flipV="false" rot="0">
            <a:off x="6661547" y="4620663"/>
            <a:ext cx="714375" cy="571500"/>
          </a:xfrm>
          <a:custGeom>
            <a:avLst/>
            <a:gdLst/>
            <a:ahLst/>
            <a:cxnLst/>
            <a:rect r="r" b="b" t="t" l="l"/>
            <a:pathLst>
              <a:path h="571500" w="714375">
                <a:moveTo>
                  <a:pt x="0" y="0"/>
                </a:moveTo>
                <a:lnTo>
                  <a:pt x="714375" y="0"/>
                </a:lnTo>
                <a:lnTo>
                  <a:pt x="7143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-2500"/>
            </a:stretch>
          </a:blipFill>
        </p:spPr>
      </p:sp>
      <p:sp>
        <p:nvSpPr>
          <p:cNvPr name="Freeform 19" id="19" descr="image.png"/>
          <p:cNvSpPr/>
          <p:nvPr/>
        </p:nvSpPr>
        <p:spPr>
          <a:xfrm flipH="false" flipV="false" rot="0">
            <a:off x="10947797" y="4620663"/>
            <a:ext cx="642938" cy="571500"/>
          </a:xfrm>
          <a:custGeom>
            <a:avLst/>
            <a:gdLst/>
            <a:ahLst/>
            <a:cxnLst/>
            <a:rect r="r" b="b" t="t" l="l"/>
            <a:pathLst>
              <a:path h="571500" w="642938">
                <a:moveTo>
                  <a:pt x="0" y="0"/>
                </a:moveTo>
                <a:lnTo>
                  <a:pt x="642937" y="0"/>
                </a:lnTo>
                <a:lnTo>
                  <a:pt x="6429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271"/>
            </a:stretch>
          </a:blipFill>
        </p:spPr>
      </p:sp>
      <p:sp>
        <p:nvSpPr>
          <p:cNvPr name="Freeform 20" id="20" descr="image.png"/>
          <p:cNvSpPr/>
          <p:nvPr/>
        </p:nvSpPr>
        <p:spPr>
          <a:xfrm flipH="false" flipV="false" rot="0">
            <a:off x="15262622" y="4620663"/>
            <a:ext cx="514350" cy="571500"/>
          </a:xfrm>
          <a:custGeom>
            <a:avLst/>
            <a:gdLst/>
            <a:ahLst/>
            <a:cxnLst/>
            <a:rect r="r" b="b" t="t" l="l"/>
            <a:pathLst>
              <a:path h="571500" w="514350">
                <a:moveTo>
                  <a:pt x="0" y="0"/>
                </a:moveTo>
                <a:lnTo>
                  <a:pt x="514350" y="0"/>
                </a:lnTo>
                <a:lnTo>
                  <a:pt x="5143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250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OBJETIVOS: 4 ABORDAGENS COMPARADAS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714375" y="1283418"/>
            <a:ext cx="8101012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CPU VS GPU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4375" y="3140793"/>
            <a:ext cx="810101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ARQUITETURAS DIFERENTES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4375" y="3983755"/>
            <a:ext cx="77152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CPU é projetada para lógica sequencial complexa, com poucos núcleos potentes.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4375" y="5469655"/>
            <a:ext cx="77152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A GPU é projetada para rendimento (throughput), com milhares de núcleos pequenos para tarefas repetitivas.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714375" y="7269880"/>
          <a:ext cx="7677150" cy="2686050"/>
        </p:xfrm>
        <a:graphic>
          <a:graphicData uri="http://schemas.openxmlformats.org/drawingml/2006/table">
            <a:tbl>
              <a:tblPr/>
              <a:tblGrid>
                <a:gridCol w="2703945"/>
                <a:gridCol w="2009528"/>
                <a:gridCol w="2963677"/>
              </a:tblGrid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Característica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CPU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GPU (RTX 4060)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4 - 16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E9456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4000+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Foco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Latência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E94560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Throughput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name="Freeform 10" id="10" descr="image.png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21519" y="9048674"/>
            <a:ext cx="2713958" cy="14288"/>
            <a:chOff x="0" y="0"/>
            <a:chExt cx="3618611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18611" cy="19050"/>
            </a:xfrm>
            <a:custGeom>
              <a:avLst/>
              <a:gdLst/>
              <a:ahLst/>
              <a:cxnLst/>
              <a:rect r="r" b="b" t="t" l="l"/>
              <a:pathLst>
                <a:path h="19050" w="3618611">
                  <a:moveTo>
                    <a:pt x="0" y="0"/>
                  </a:moveTo>
                  <a:lnTo>
                    <a:pt x="3618611" y="0"/>
                  </a:lnTo>
                  <a:lnTo>
                    <a:pt x="3618611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435477" y="9048674"/>
            <a:ext cx="2009623" cy="14288"/>
            <a:chOff x="0" y="0"/>
            <a:chExt cx="2679497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79446" cy="19050"/>
            </a:xfrm>
            <a:custGeom>
              <a:avLst/>
              <a:gdLst/>
              <a:ahLst/>
              <a:cxnLst/>
              <a:rect r="r" b="b" t="t" l="l"/>
              <a:pathLst>
                <a:path h="19050" w="2679446">
                  <a:moveTo>
                    <a:pt x="0" y="0"/>
                  </a:moveTo>
                  <a:lnTo>
                    <a:pt x="2679446" y="0"/>
                  </a:lnTo>
                  <a:lnTo>
                    <a:pt x="267944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445100" y="9048674"/>
            <a:ext cx="2977382" cy="14288"/>
            <a:chOff x="0" y="0"/>
            <a:chExt cx="3969842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69893" cy="19050"/>
            </a:xfrm>
            <a:custGeom>
              <a:avLst/>
              <a:gdLst/>
              <a:ahLst/>
              <a:cxnLst/>
              <a:rect r="r" b="b" t="t" l="l"/>
              <a:pathLst>
                <a:path h="19050" w="3969893">
                  <a:moveTo>
                    <a:pt x="0" y="0"/>
                  </a:moveTo>
                  <a:lnTo>
                    <a:pt x="3969893" y="0"/>
                  </a:lnTo>
                  <a:lnTo>
                    <a:pt x="396989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857250" y="7947793"/>
            <a:ext cx="7858125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1800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Independência de Pixels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72625" y="4727819"/>
            <a:ext cx="82510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SIMD (SINGLE INSTRUCTION, MULTIPLE DATA)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2625" y="5356469"/>
            <a:ext cx="78581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Imagens são matrizes de dados. A mesma operação (filtro) é aplicada a milhões de pixels.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625" y="6556619"/>
            <a:ext cx="785812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A GPU pode lançar uma thread para cada pixel simultaneamente.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636044" y="3573437"/>
            <a:ext cx="814388" cy="814388"/>
            <a:chOff x="0" y="0"/>
            <a:chExt cx="1085850" cy="10858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3507581" y="3573437"/>
            <a:ext cx="814388" cy="814388"/>
            <a:chOff x="0" y="0"/>
            <a:chExt cx="1085850" cy="10858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379119" y="3573437"/>
            <a:ext cx="814388" cy="814388"/>
            <a:chOff x="0" y="0"/>
            <a:chExt cx="1085850" cy="10858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250656" y="3573437"/>
            <a:ext cx="814388" cy="814388"/>
            <a:chOff x="0" y="0"/>
            <a:chExt cx="1085850" cy="1085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122194" y="3573437"/>
            <a:ext cx="814388" cy="814388"/>
            <a:chOff x="0" y="0"/>
            <a:chExt cx="1085850" cy="10858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636044" y="4444975"/>
            <a:ext cx="814388" cy="814388"/>
            <a:chOff x="0" y="0"/>
            <a:chExt cx="1085850" cy="10858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507581" y="4444975"/>
            <a:ext cx="814388" cy="814388"/>
            <a:chOff x="0" y="0"/>
            <a:chExt cx="1085850" cy="10858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379119" y="4444975"/>
            <a:ext cx="814388" cy="814388"/>
            <a:chOff x="0" y="0"/>
            <a:chExt cx="1085850" cy="10858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250656" y="4444975"/>
            <a:ext cx="814388" cy="814388"/>
            <a:chOff x="0" y="0"/>
            <a:chExt cx="1085850" cy="10858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122194" y="4444975"/>
            <a:ext cx="814388" cy="814388"/>
            <a:chOff x="0" y="0"/>
            <a:chExt cx="1085850" cy="10858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636044" y="5316512"/>
            <a:ext cx="814388" cy="814388"/>
            <a:chOff x="0" y="0"/>
            <a:chExt cx="1085850" cy="1085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3507581" y="5316512"/>
            <a:ext cx="814388" cy="814388"/>
            <a:chOff x="0" y="0"/>
            <a:chExt cx="1085850" cy="1085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379119" y="5316512"/>
            <a:ext cx="814388" cy="814388"/>
            <a:chOff x="0" y="0"/>
            <a:chExt cx="1085850" cy="10858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250656" y="5316512"/>
            <a:ext cx="814388" cy="814388"/>
            <a:chOff x="0" y="0"/>
            <a:chExt cx="1085850" cy="10858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122194" y="5316512"/>
            <a:ext cx="814388" cy="814388"/>
            <a:chOff x="0" y="0"/>
            <a:chExt cx="1085850" cy="10858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2636044" y="6188050"/>
            <a:ext cx="814388" cy="814388"/>
            <a:chOff x="0" y="0"/>
            <a:chExt cx="1085850" cy="1085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3507581" y="6188050"/>
            <a:ext cx="814388" cy="814388"/>
            <a:chOff x="0" y="0"/>
            <a:chExt cx="1085850" cy="108585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4379119" y="6188050"/>
            <a:ext cx="814388" cy="814388"/>
            <a:chOff x="0" y="0"/>
            <a:chExt cx="1085850" cy="10858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250656" y="6188050"/>
            <a:ext cx="814388" cy="814388"/>
            <a:chOff x="0" y="0"/>
            <a:chExt cx="1085850" cy="108585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6122194" y="6188050"/>
            <a:ext cx="814388" cy="814388"/>
            <a:chOff x="0" y="0"/>
            <a:chExt cx="1085850" cy="108585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2636044" y="7059587"/>
            <a:ext cx="814388" cy="814388"/>
            <a:chOff x="0" y="0"/>
            <a:chExt cx="1085850" cy="10858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3507581" y="7059587"/>
            <a:ext cx="814388" cy="814388"/>
            <a:chOff x="0" y="0"/>
            <a:chExt cx="1085850" cy="10858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4379119" y="7059587"/>
            <a:ext cx="814388" cy="814388"/>
            <a:chOff x="0" y="0"/>
            <a:chExt cx="1085850" cy="108585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5250656" y="7059587"/>
            <a:ext cx="814388" cy="814388"/>
            <a:chOff x="0" y="0"/>
            <a:chExt cx="1085850" cy="10858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6122194" y="7059587"/>
            <a:ext cx="814388" cy="814388"/>
            <a:chOff x="0" y="0"/>
            <a:chExt cx="1085850" cy="108585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9525" y="9525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1066800"/>
                  </a:lnTo>
                  <a:lnTo>
                    <a:pt x="0" y="106680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9525" y="0"/>
                  </a:moveTo>
                  <a:lnTo>
                    <a:pt x="1076325" y="0"/>
                  </a:lnTo>
                  <a:cubicBezTo>
                    <a:pt x="1081532" y="0"/>
                    <a:pt x="1085850" y="4318"/>
                    <a:pt x="1085850" y="9525"/>
                  </a:cubicBezTo>
                  <a:lnTo>
                    <a:pt x="1085850" y="1076325"/>
                  </a:lnTo>
                  <a:cubicBezTo>
                    <a:pt x="1085850" y="1081532"/>
                    <a:pt x="1081532" y="1085850"/>
                    <a:pt x="1076325" y="1085850"/>
                  </a:cubicBezTo>
                  <a:lnTo>
                    <a:pt x="9525" y="1085850"/>
                  </a:lnTo>
                  <a:cubicBezTo>
                    <a:pt x="4318" y="1085850"/>
                    <a:pt x="0" y="1081532"/>
                    <a:pt x="0" y="1076325"/>
                  </a:cubicBezTo>
                  <a:lnTo>
                    <a:pt x="0" y="9525"/>
                  </a:lnTo>
                  <a:cubicBezTo>
                    <a:pt x="0" y="4318"/>
                    <a:pt x="4318" y="0"/>
                    <a:pt x="9525" y="0"/>
                  </a:cubicBezTo>
                  <a:moveTo>
                    <a:pt x="9525" y="19050"/>
                  </a:moveTo>
                  <a:lnTo>
                    <a:pt x="9525" y="9525"/>
                  </a:lnTo>
                  <a:lnTo>
                    <a:pt x="19050" y="9525"/>
                  </a:lnTo>
                  <a:lnTo>
                    <a:pt x="19050" y="1076325"/>
                  </a:lnTo>
                  <a:lnTo>
                    <a:pt x="9525" y="1076325"/>
                  </a:lnTo>
                  <a:lnTo>
                    <a:pt x="9525" y="1066800"/>
                  </a:lnTo>
                  <a:lnTo>
                    <a:pt x="1076325" y="1066800"/>
                  </a:lnTo>
                  <a:lnTo>
                    <a:pt x="1076325" y="1076325"/>
                  </a:lnTo>
                  <a:lnTo>
                    <a:pt x="1066800" y="1076325"/>
                  </a:lnTo>
                  <a:lnTo>
                    <a:pt x="1066800" y="9525"/>
                  </a:lnTo>
                  <a:lnTo>
                    <a:pt x="1076325" y="9525"/>
                  </a:lnTo>
                  <a:lnTo>
                    <a:pt x="1076325" y="19050"/>
                  </a:lnTo>
                  <a:lnTo>
                    <a:pt x="9525" y="19050"/>
                  </a:lnTo>
                  <a:close/>
                </a:path>
              </a:pathLst>
            </a:custGeom>
            <a:solidFill>
              <a:srgbClr val="94A3B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4" id="84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POR QUE GPU PARA IMAGENS?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5077863"/>
            <a:ext cx="16573500" cy="2100262"/>
          </a:xfrm>
          <a:custGeom>
            <a:avLst/>
            <a:gdLst/>
            <a:ahLst/>
            <a:cxnLst/>
            <a:rect r="r" b="b" t="t" l="l"/>
            <a:pathLst>
              <a:path h="2100262" w="16573500">
                <a:moveTo>
                  <a:pt x="0" y="0"/>
                </a:moveTo>
                <a:lnTo>
                  <a:pt x="16573500" y="0"/>
                </a:lnTo>
                <a:lnTo>
                  <a:pt x="16573500" y="2100263"/>
                </a:lnTo>
                <a:lnTo>
                  <a:pt x="0" y="2100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8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57288" y="5368376"/>
            <a:ext cx="14287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569CD6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__global__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28912" y="5368376"/>
            <a:ext cx="57150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43288" y="5368376"/>
            <a:ext cx="1571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CDCAA"/>
                </a:solidFill>
                <a:latin typeface="Fira Code"/>
                <a:ea typeface="Fira Code"/>
                <a:cs typeface="Fira Code"/>
                <a:sym typeface="Fira Code"/>
              </a:rPr>
              <a:t>sepiaKernel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29662" y="5368376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29788" y="5368376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5662" y="5368376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4662" y="5668413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29788" y="5668413"/>
            <a:ext cx="285750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>
                <a:solidFill>
                  <a:srgbClr val="569CD6"/>
                </a:solidFill>
                <a:latin typeface="Fira Code Bold"/>
                <a:ea typeface="Fira Code Bold"/>
                <a:cs typeface="Fira Code Bold"/>
                <a:sym typeface="Fira Code Bold"/>
              </a:rPr>
              <a:t>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288" y="5968451"/>
            <a:ext cx="7143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float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72162" y="5968451"/>
            <a:ext cx="185737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// Acesso RGB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72412" y="5968451"/>
            <a:ext cx="5000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A9955"/>
                </a:solidFill>
                <a:latin typeface="Fira Code"/>
                <a:ea typeface="Fira Code"/>
                <a:cs typeface="Fira Code"/>
                <a:sym typeface="Fira Code"/>
              </a:rPr>
              <a:t>// Fórmula Sépia paralela por pixel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86038" y="6268488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8288" y="6268488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30538" y="6268488"/>
            <a:ext cx="428625" cy="309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4EC9B0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IMPLEMENTAÇÃO: KERNEL CUDA (SÉPIA)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9572625" y="3627682"/>
            <a:ext cx="7858125" cy="5000625"/>
          </a:xfrm>
          <a:custGeom>
            <a:avLst/>
            <a:gdLst/>
            <a:ahLst/>
            <a:cxnLst/>
            <a:rect r="r" b="b" t="t" l="l"/>
            <a:pathLst>
              <a:path h="5000625" w="7858125">
                <a:moveTo>
                  <a:pt x="0" y="0"/>
                </a:moveTo>
                <a:lnTo>
                  <a:pt x="7858125" y="0"/>
                </a:lnTo>
                <a:lnTo>
                  <a:pt x="7858125" y="5000625"/>
                </a:lnTo>
                <a:lnTo>
                  <a:pt x="0" y="5000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8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4927844"/>
            <a:ext cx="82510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FUNCIONALIDADES</a:t>
            </a:r>
          </a:p>
        </p:txBody>
      </p:sp>
      <p:sp>
        <p:nvSpPr>
          <p:cNvPr name="Freeform 7" id="7" descr="image.png"/>
          <p:cNvSpPr/>
          <p:nvPr/>
        </p:nvSpPr>
        <p:spPr>
          <a:xfrm flipH="false" flipV="false" rot="0">
            <a:off x="9586912" y="3641969"/>
            <a:ext cx="7829550" cy="4972050"/>
          </a:xfrm>
          <a:custGeom>
            <a:avLst/>
            <a:gdLst/>
            <a:ahLst/>
            <a:cxnLst/>
            <a:rect r="r" b="b" t="t" l="l"/>
            <a:pathLst>
              <a:path h="4972050" w="7829550">
                <a:moveTo>
                  <a:pt x="0" y="0"/>
                </a:moveTo>
                <a:lnTo>
                  <a:pt x="7829550" y="0"/>
                </a:lnTo>
                <a:lnTo>
                  <a:pt x="7829550" y="4972050"/>
                </a:lnTo>
                <a:lnTo>
                  <a:pt x="0" y="4972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49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9949" y="5577926"/>
            <a:ext cx="71151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Side-by-Side: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Comparação Original vs Processada.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9949" y="6035126"/>
            <a:ext cx="71151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Modos: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Alternância instantânea (M).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9949" y="6492326"/>
            <a:ext cx="71151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Benchmark: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Medição em tempo real (C).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949" y="6949526"/>
            <a:ext cx="71151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Webcam: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Suporte a vídeo ao vivo.</a:t>
            </a:r>
          </a:p>
        </p:txBody>
      </p:sp>
      <p:sp>
        <p:nvSpPr>
          <p:cNvPr name="Freeform 12" id="12" descr="image.png"/>
          <p:cNvSpPr/>
          <p:nvPr/>
        </p:nvSpPr>
        <p:spPr>
          <a:xfrm flipH="false" flipV="false" rot="0">
            <a:off x="1428750" y="5749376"/>
            <a:ext cx="257175" cy="300038"/>
          </a:xfrm>
          <a:custGeom>
            <a:avLst/>
            <a:gdLst/>
            <a:ahLst/>
            <a:cxnLst/>
            <a:rect r="r" b="b" t="t" l="l"/>
            <a:pathLst>
              <a:path h="300038" w="257175">
                <a:moveTo>
                  <a:pt x="0" y="0"/>
                </a:moveTo>
                <a:lnTo>
                  <a:pt x="257175" y="0"/>
                </a:lnTo>
                <a:lnTo>
                  <a:pt x="2571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428750" y="6206576"/>
            <a:ext cx="257175" cy="300038"/>
          </a:xfrm>
          <a:custGeom>
            <a:avLst/>
            <a:gdLst/>
            <a:ahLst/>
            <a:cxnLst/>
            <a:rect r="r" b="b" t="t" l="l"/>
            <a:pathLst>
              <a:path h="300038" w="257175">
                <a:moveTo>
                  <a:pt x="0" y="0"/>
                </a:moveTo>
                <a:lnTo>
                  <a:pt x="257175" y="0"/>
                </a:lnTo>
                <a:lnTo>
                  <a:pt x="2571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428750" y="6663776"/>
            <a:ext cx="257175" cy="300038"/>
          </a:xfrm>
          <a:custGeom>
            <a:avLst/>
            <a:gdLst/>
            <a:ahLst/>
            <a:cxnLst/>
            <a:rect r="r" b="b" t="t" l="l"/>
            <a:pathLst>
              <a:path h="300038" w="257175">
                <a:moveTo>
                  <a:pt x="0" y="0"/>
                </a:moveTo>
                <a:lnTo>
                  <a:pt x="257175" y="0"/>
                </a:lnTo>
                <a:lnTo>
                  <a:pt x="2571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 descr="image.png"/>
          <p:cNvSpPr/>
          <p:nvPr/>
        </p:nvSpPr>
        <p:spPr>
          <a:xfrm flipH="false" flipV="false" rot="0">
            <a:off x="1428750" y="7120976"/>
            <a:ext cx="257175" cy="300038"/>
          </a:xfrm>
          <a:custGeom>
            <a:avLst/>
            <a:gdLst/>
            <a:ahLst/>
            <a:cxnLst/>
            <a:rect r="r" b="b" t="t" l="l"/>
            <a:pathLst>
              <a:path h="300038" w="257175">
                <a:moveTo>
                  <a:pt x="0" y="0"/>
                </a:moveTo>
                <a:lnTo>
                  <a:pt x="257175" y="0"/>
                </a:lnTo>
                <a:lnTo>
                  <a:pt x="257175" y="300037"/>
                </a:lnTo>
                <a:lnTo>
                  <a:pt x="0" y="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INTERFACE GRÁFICA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7250" y="3400647"/>
          <a:ext cx="16535400" cy="4476750"/>
        </p:xfrm>
        <a:graphic>
          <a:graphicData uri="http://schemas.openxmlformats.org/drawingml/2006/table">
            <a:tbl>
              <a:tblPr/>
              <a:tblGrid>
                <a:gridCol w="3640356"/>
                <a:gridCol w="5088511"/>
                <a:gridCol w="4451977"/>
                <a:gridCol w="3354556"/>
              </a:tblGrid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Filtro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Sequential (ms)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OpenMP (ms)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Speedup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Blur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8.69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2.08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4.2x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Gaussian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10.50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2.05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5.1x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Sobel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12.26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3.10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4.0x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Bilateral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567.37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59.01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9.6x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175532" y="8034557"/>
            <a:ext cx="9936937" cy="45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Para imagens pequenas, OpenMP oferece excelente ganho com menor complexidade.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64394" y="5179438"/>
            <a:ext cx="3642198" cy="14288"/>
            <a:chOff x="0" y="0"/>
            <a:chExt cx="4856264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56226" cy="19050"/>
            </a:xfrm>
            <a:custGeom>
              <a:avLst/>
              <a:gdLst/>
              <a:ahLst/>
              <a:cxnLst/>
              <a:rect r="r" b="b" t="t" l="l"/>
              <a:pathLst>
                <a:path h="19050" w="4856226">
                  <a:moveTo>
                    <a:pt x="0" y="0"/>
                  </a:moveTo>
                  <a:lnTo>
                    <a:pt x="4856226" y="0"/>
                  </a:lnTo>
                  <a:lnTo>
                    <a:pt x="48562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06592" y="5179438"/>
            <a:ext cx="5102419" cy="14288"/>
            <a:chOff x="0" y="0"/>
            <a:chExt cx="6803225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3263" cy="19050"/>
            </a:xfrm>
            <a:custGeom>
              <a:avLst/>
              <a:gdLst/>
              <a:ahLst/>
              <a:cxnLst/>
              <a:rect r="r" b="b" t="t" l="l"/>
              <a:pathLst>
                <a:path h="19050" w="6803263">
                  <a:moveTo>
                    <a:pt x="0" y="0"/>
                  </a:moveTo>
                  <a:lnTo>
                    <a:pt x="6803263" y="0"/>
                  </a:lnTo>
                  <a:lnTo>
                    <a:pt x="68032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609010" y="5179438"/>
            <a:ext cx="4460605" cy="14288"/>
            <a:chOff x="0" y="0"/>
            <a:chExt cx="5947474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47410" cy="19050"/>
            </a:xfrm>
            <a:custGeom>
              <a:avLst/>
              <a:gdLst/>
              <a:ahLst/>
              <a:cxnLst/>
              <a:rect r="r" b="b" t="t" l="l"/>
              <a:pathLst>
                <a:path h="19050" w="5947410">
                  <a:moveTo>
                    <a:pt x="0" y="0"/>
                  </a:moveTo>
                  <a:lnTo>
                    <a:pt x="5947410" y="0"/>
                  </a:lnTo>
                  <a:lnTo>
                    <a:pt x="5947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069616" y="5179438"/>
            <a:ext cx="3353991" cy="14288"/>
            <a:chOff x="0" y="0"/>
            <a:chExt cx="4471988" cy="190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71924" cy="19050"/>
            </a:xfrm>
            <a:custGeom>
              <a:avLst/>
              <a:gdLst/>
              <a:ahLst/>
              <a:cxnLst/>
              <a:rect r="r" b="b" t="t" l="l"/>
              <a:pathLst>
                <a:path h="19050" w="4471924">
                  <a:moveTo>
                    <a:pt x="0" y="0"/>
                  </a:moveTo>
                  <a:lnTo>
                    <a:pt x="4471924" y="0"/>
                  </a:lnTo>
                  <a:lnTo>
                    <a:pt x="447192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64394" y="6079550"/>
            <a:ext cx="3642198" cy="14288"/>
            <a:chOff x="0" y="0"/>
            <a:chExt cx="4856264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6226" cy="19050"/>
            </a:xfrm>
            <a:custGeom>
              <a:avLst/>
              <a:gdLst/>
              <a:ahLst/>
              <a:cxnLst/>
              <a:rect r="r" b="b" t="t" l="l"/>
              <a:pathLst>
                <a:path h="19050" w="4856226">
                  <a:moveTo>
                    <a:pt x="0" y="0"/>
                  </a:moveTo>
                  <a:lnTo>
                    <a:pt x="4856226" y="0"/>
                  </a:lnTo>
                  <a:lnTo>
                    <a:pt x="48562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506592" y="6079550"/>
            <a:ext cx="5102419" cy="14288"/>
            <a:chOff x="0" y="0"/>
            <a:chExt cx="6803225" cy="190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3263" cy="19050"/>
            </a:xfrm>
            <a:custGeom>
              <a:avLst/>
              <a:gdLst/>
              <a:ahLst/>
              <a:cxnLst/>
              <a:rect r="r" b="b" t="t" l="l"/>
              <a:pathLst>
                <a:path h="19050" w="6803263">
                  <a:moveTo>
                    <a:pt x="0" y="0"/>
                  </a:moveTo>
                  <a:lnTo>
                    <a:pt x="6803263" y="0"/>
                  </a:lnTo>
                  <a:lnTo>
                    <a:pt x="68032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609010" y="6079550"/>
            <a:ext cx="4460605" cy="14288"/>
            <a:chOff x="0" y="0"/>
            <a:chExt cx="5947474" cy="190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7410" cy="19050"/>
            </a:xfrm>
            <a:custGeom>
              <a:avLst/>
              <a:gdLst/>
              <a:ahLst/>
              <a:cxnLst/>
              <a:rect r="r" b="b" t="t" l="l"/>
              <a:pathLst>
                <a:path h="19050" w="5947410">
                  <a:moveTo>
                    <a:pt x="0" y="0"/>
                  </a:moveTo>
                  <a:lnTo>
                    <a:pt x="5947410" y="0"/>
                  </a:lnTo>
                  <a:lnTo>
                    <a:pt x="5947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69616" y="6079550"/>
            <a:ext cx="3353991" cy="14288"/>
            <a:chOff x="0" y="0"/>
            <a:chExt cx="4471988" cy="19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71924" cy="19050"/>
            </a:xfrm>
            <a:custGeom>
              <a:avLst/>
              <a:gdLst/>
              <a:ahLst/>
              <a:cxnLst/>
              <a:rect r="r" b="b" t="t" l="l"/>
              <a:pathLst>
                <a:path h="19050" w="4471924">
                  <a:moveTo>
                    <a:pt x="0" y="0"/>
                  </a:moveTo>
                  <a:lnTo>
                    <a:pt x="4471924" y="0"/>
                  </a:lnTo>
                  <a:lnTo>
                    <a:pt x="447192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64394" y="6979663"/>
            <a:ext cx="3642198" cy="14288"/>
            <a:chOff x="0" y="0"/>
            <a:chExt cx="4856264" cy="19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6226" cy="19050"/>
            </a:xfrm>
            <a:custGeom>
              <a:avLst/>
              <a:gdLst/>
              <a:ahLst/>
              <a:cxnLst/>
              <a:rect r="r" b="b" t="t" l="l"/>
              <a:pathLst>
                <a:path h="19050" w="4856226">
                  <a:moveTo>
                    <a:pt x="0" y="0"/>
                  </a:moveTo>
                  <a:lnTo>
                    <a:pt x="4856226" y="0"/>
                  </a:lnTo>
                  <a:lnTo>
                    <a:pt x="4856226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506592" y="6979663"/>
            <a:ext cx="5102419" cy="14288"/>
            <a:chOff x="0" y="0"/>
            <a:chExt cx="6803225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3263" cy="19050"/>
            </a:xfrm>
            <a:custGeom>
              <a:avLst/>
              <a:gdLst/>
              <a:ahLst/>
              <a:cxnLst/>
              <a:rect r="r" b="b" t="t" l="l"/>
              <a:pathLst>
                <a:path h="19050" w="6803263">
                  <a:moveTo>
                    <a:pt x="0" y="0"/>
                  </a:moveTo>
                  <a:lnTo>
                    <a:pt x="6803263" y="0"/>
                  </a:lnTo>
                  <a:lnTo>
                    <a:pt x="6803263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609010" y="6979663"/>
            <a:ext cx="4460605" cy="14288"/>
            <a:chOff x="0" y="0"/>
            <a:chExt cx="5947474" cy="190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947410" cy="19050"/>
            </a:xfrm>
            <a:custGeom>
              <a:avLst/>
              <a:gdLst/>
              <a:ahLst/>
              <a:cxnLst/>
              <a:rect r="r" b="b" t="t" l="l"/>
              <a:pathLst>
                <a:path h="19050" w="5947410">
                  <a:moveTo>
                    <a:pt x="0" y="0"/>
                  </a:moveTo>
                  <a:lnTo>
                    <a:pt x="5947410" y="0"/>
                  </a:lnTo>
                  <a:lnTo>
                    <a:pt x="594741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069616" y="6979663"/>
            <a:ext cx="3353991" cy="14288"/>
            <a:chOff x="0" y="0"/>
            <a:chExt cx="4471988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71924" cy="19050"/>
            </a:xfrm>
            <a:custGeom>
              <a:avLst/>
              <a:gdLst/>
              <a:ahLst/>
              <a:cxnLst/>
              <a:rect r="r" b="b" t="t" l="l"/>
              <a:pathLst>
                <a:path h="19050" w="4471924">
                  <a:moveTo>
                    <a:pt x="0" y="0"/>
                  </a:moveTo>
                  <a:lnTo>
                    <a:pt x="4471924" y="0"/>
                  </a:lnTo>
                  <a:lnTo>
                    <a:pt x="4471924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BD5E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RESULTADOS: RESOLUÇÃO VGA (640X480)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5279231" y="6999532"/>
            <a:ext cx="7729538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 i="true">
                <a:solidFill>
                  <a:srgbClr val="334155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O filtro sequencial levava 246ms. O CUDA executa em 13ms.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32372" y="4332532"/>
            <a:ext cx="6600825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18.8x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32372" y="6189907"/>
            <a:ext cx="660082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SPEEDUP MÁXIMO (FILTRO MEDIAN)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40691" y="4332532"/>
            <a:ext cx="5214938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0"/>
              </a:lnSpc>
            </a:pPr>
            <a:r>
              <a:rPr lang="en-US" b="true" sz="135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1.2ms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0691" y="6189907"/>
            <a:ext cx="521493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TEMPO DE EXECUÇÃO SÉPIA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RESULTADOS: FULL HD COM CUDA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2883618"/>
            <a:ext cx="16573500" cy="6488982"/>
          </a:xfrm>
          <a:custGeom>
            <a:avLst/>
            <a:gdLst/>
            <a:ahLst/>
            <a:cxnLst/>
            <a:rect r="r" b="b" t="t" l="l"/>
            <a:pathLst>
              <a:path h="6488982" w="16573500">
                <a:moveTo>
                  <a:pt x="0" y="0"/>
                </a:moveTo>
                <a:lnTo>
                  <a:pt x="16573500" y="0"/>
                </a:lnTo>
                <a:lnTo>
                  <a:pt x="16573500" y="6488982"/>
                </a:lnTo>
                <a:lnTo>
                  <a:pt x="0" y="648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06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SPEEDUP COMPARATIVO (MEDIAN 1080P)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7250" y="3291928"/>
          <a:ext cx="16535400" cy="4476750"/>
        </p:xfrm>
        <a:graphic>
          <a:graphicData uri="http://schemas.openxmlformats.org/drawingml/2006/table">
            <a:tbl>
              <a:tblPr/>
              <a:tblGrid>
                <a:gridCol w="5030712"/>
                <a:gridCol w="4375130"/>
                <a:gridCol w="7129558"/>
              </a:tblGrid>
              <a:tr h="895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Modo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FPS Médio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ajdhani Bold"/>
                          <a:ea typeface="Rajdhani Bold"/>
                          <a:cs typeface="Rajdhani Bold"/>
                          <a:sym typeface="Rajdhani Bold"/>
                        </a:rPr>
                        <a:t>Status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Sequential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15 - 20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EF444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Lag Perceptível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OpenMP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25 - 30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16A34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Fluido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Multithread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20 - 25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F59E0B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Bom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8953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CUDA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34155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45 - 60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16A34A"/>
                          </a:solidFill>
                          <a:latin typeface="Roboto Bold"/>
                          <a:ea typeface="Roboto Bold"/>
                          <a:cs typeface="Roboto Bold"/>
                          <a:sym typeface="Roboto Bold"/>
                        </a:rPr>
                        <a:t>Excelente</a:t>
                      </a:r>
                      <a:endParaRPr lang="en-US" sz="1100"/>
                    </a:p>
                  </a:txBody>
                  <a:tcPr marL="92816" marR="92816" marT="92816" marB="92816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0744" y="8049663"/>
            <a:ext cx="63865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Meta de 30 FPS alcançada e superada com CUDA.</a:t>
            </a:r>
          </a:p>
        </p:txBody>
      </p:sp>
      <p:sp>
        <p:nvSpPr>
          <p:cNvPr name="Freeform 7" id="7" descr="image.png"/>
          <p:cNvSpPr/>
          <p:nvPr/>
        </p:nvSpPr>
        <p:spPr>
          <a:xfrm flipH="false" flipV="false" rot="0">
            <a:off x="12412679" y="721172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 descr="image.png"/>
          <p:cNvSpPr/>
          <p:nvPr/>
        </p:nvSpPr>
        <p:spPr>
          <a:xfrm flipH="false" flipV="false" rot="0">
            <a:off x="12412679" y="5411499"/>
            <a:ext cx="257175" cy="285750"/>
          </a:xfrm>
          <a:custGeom>
            <a:avLst/>
            <a:gdLst/>
            <a:ahLst/>
            <a:cxnLst/>
            <a:rect r="r" b="b" t="t" l="l"/>
            <a:pathLst>
              <a:path h="285750" w="257175">
                <a:moveTo>
                  <a:pt x="0" y="0"/>
                </a:moveTo>
                <a:lnTo>
                  <a:pt x="257175" y="0"/>
                </a:lnTo>
                <a:lnTo>
                  <a:pt x="2571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29" b="0"/>
            </a:stretch>
          </a:blipFill>
        </p:spPr>
      </p:sp>
      <p:sp>
        <p:nvSpPr>
          <p:cNvPr name="Freeform 9" id="9" descr="image.png"/>
          <p:cNvSpPr/>
          <p:nvPr/>
        </p:nvSpPr>
        <p:spPr>
          <a:xfrm flipH="false" flipV="false" rot="0">
            <a:off x="12412679" y="4511386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86" b="0"/>
            </a:stretch>
          </a:blipFill>
        </p:spPr>
      </p:sp>
      <p:sp>
        <p:nvSpPr>
          <p:cNvPr name="Freeform 10" id="10" descr="image.png"/>
          <p:cNvSpPr/>
          <p:nvPr/>
        </p:nvSpPr>
        <p:spPr>
          <a:xfrm flipH="false" flipV="false" rot="0">
            <a:off x="12412679" y="6311611"/>
            <a:ext cx="257175" cy="285750"/>
          </a:xfrm>
          <a:custGeom>
            <a:avLst/>
            <a:gdLst/>
            <a:ahLst/>
            <a:cxnLst/>
            <a:rect r="r" b="b" t="t" l="l"/>
            <a:pathLst>
              <a:path h="285750" w="257175">
                <a:moveTo>
                  <a:pt x="0" y="0"/>
                </a:moveTo>
                <a:lnTo>
                  <a:pt x="257175" y="0"/>
                </a:lnTo>
                <a:lnTo>
                  <a:pt x="2571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29" b="0"/>
            </a:stretch>
          </a:blipFill>
        </p:spPr>
      </p:sp>
      <p:sp>
        <p:nvSpPr>
          <p:cNvPr name="Freeform 11" id="11" descr="image.png"/>
          <p:cNvSpPr/>
          <p:nvPr/>
        </p:nvSpPr>
        <p:spPr>
          <a:xfrm flipH="false" flipV="false" rot="0">
            <a:off x="12412679" y="4511386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86" b="0"/>
            </a:stretch>
          </a:blipFill>
        </p:spPr>
      </p:sp>
      <p:sp>
        <p:nvSpPr>
          <p:cNvPr name="Freeform 12" id="12" descr="image.png"/>
          <p:cNvSpPr/>
          <p:nvPr/>
        </p:nvSpPr>
        <p:spPr>
          <a:xfrm flipH="false" flipV="false" rot="0">
            <a:off x="12412679" y="5411499"/>
            <a:ext cx="257175" cy="285750"/>
          </a:xfrm>
          <a:custGeom>
            <a:avLst/>
            <a:gdLst/>
            <a:ahLst/>
            <a:cxnLst/>
            <a:rect r="r" b="b" t="t" l="l"/>
            <a:pathLst>
              <a:path h="285750" w="257175">
                <a:moveTo>
                  <a:pt x="0" y="0"/>
                </a:moveTo>
                <a:lnTo>
                  <a:pt x="257175" y="0"/>
                </a:lnTo>
                <a:lnTo>
                  <a:pt x="2571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29" b="0"/>
            </a:stretch>
          </a:blipFill>
        </p:spPr>
      </p:sp>
      <p:sp>
        <p:nvSpPr>
          <p:cNvPr name="Freeform 13" id="13" descr="image.png"/>
          <p:cNvSpPr/>
          <p:nvPr/>
        </p:nvSpPr>
        <p:spPr>
          <a:xfrm flipH="false" flipV="false" rot="0">
            <a:off x="12412679" y="6311611"/>
            <a:ext cx="257175" cy="285750"/>
          </a:xfrm>
          <a:custGeom>
            <a:avLst/>
            <a:gdLst/>
            <a:ahLst/>
            <a:cxnLst/>
            <a:rect r="r" b="b" t="t" l="l"/>
            <a:pathLst>
              <a:path h="285750" w="257175">
                <a:moveTo>
                  <a:pt x="0" y="0"/>
                </a:moveTo>
                <a:lnTo>
                  <a:pt x="257175" y="0"/>
                </a:lnTo>
                <a:lnTo>
                  <a:pt x="257175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29" b="0"/>
            </a:stretch>
          </a:blipFill>
        </p:spPr>
      </p:sp>
      <p:sp>
        <p:nvSpPr>
          <p:cNvPr name="Freeform 14" id="14" descr="image.png"/>
          <p:cNvSpPr/>
          <p:nvPr/>
        </p:nvSpPr>
        <p:spPr>
          <a:xfrm flipH="false" flipV="false" rot="0">
            <a:off x="12412679" y="7211724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3000" y="1426293"/>
            <a:ext cx="1165312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PERFORMANCE EM TEMPO REAL (WEBCAM)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857250" y="4084882"/>
            <a:ext cx="7858125" cy="4086225"/>
          </a:xfrm>
          <a:custGeom>
            <a:avLst/>
            <a:gdLst/>
            <a:ahLst/>
            <a:cxnLst/>
            <a:rect r="r" b="b" t="t" l="l"/>
            <a:pathLst>
              <a:path h="4086225" w="7858125">
                <a:moveTo>
                  <a:pt x="0" y="0"/>
                </a:moveTo>
                <a:lnTo>
                  <a:pt x="7858125" y="0"/>
                </a:lnTo>
                <a:lnTo>
                  <a:pt x="7858125" y="4086225"/>
                </a:lnTo>
                <a:lnTo>
                  <a:pt x="0" y="40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49"/>
            </a:stretch>
          </a:blipFill>
        </p:spPr>
      </p:sp>
      <p:sp>
        <p:nvSpPr>
          <p:cNvPr name="Freeform 4" id="4" descr="image.png"/>
          <p:cNvSpPr/>
          <p:nvPr/>
        </p:nvSpPr>
        <p:spPr>
          <a:xfrm flipH="false" flipV="false" rot="0">
            <a:off x="9572625" y="3627682"/>
            <a:ext cx="7858125" cy="5000625"/>
          </a:xfrm>
          <a:custGeom>
            <a:avLst/>
            <a:gdLst/>
            <a:ahLst/>
            <a:cxnLst/>
            <a:rect r="r" b="b" t="t" l="l"/>
            <a:pathLst>
              <a:path h="5000625" w="7858125">
                <a:moveTo>
                  <a:pt x="0" y="0"/>
                </a:moveTo>
                <a:lnTo>
                  <a:pt x="7858125" y="0"/>
                </a:lnTo>
                <a:lnTo>
                  <a:pt x="7858125" y="5000625"/>
                </a:lnTo>
                <a:lnTo>
                  <a:pt x="0" y="5000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85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76532" y="4899269"/>
            <a:ext cx="70827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OBJETIVOS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67962" y="4442069"/>
            <a:ext cx="71208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E94560"/>
                </a:solidFill>
                <a:latin typeface="Rajdhani"/>
                <a:ea typeface="Rajdhani"/>
                <a:cs typeface="Rajdhani"/>
                <a:sym typeface="Rajdhani"/>
              </a:rPr>
              <a:t>APRENDIZADOS</a:t>
            </a:r>
          </a:p>
        </p:txBody>
      </p:sp>
      <p:sp>
        <p:nvSpPr>
          <p:cNvPr name="Freeform 9" id="9" descr="image.png"/>
          <p:cNvSpPr/>
          <p:nvPr/>
        </p:nvSpPr>
        <p:spPr>
          <a:xfrm flipH="false" flipV="false" rot="0">
            <a:off x="1300162" y="4956419"/>
            <a:ext cx="357188" cy="400050"/>
          </a:xfrm>
          <a:custGeom>
            <a:avLst/>
            <a:gdLst/>
            <a:ahLst/>
            <a:cxnLst/>
            <a:rect r="r" b="b" t="t" l="l"/>
            <a:pathLst>
              <a:path h="400050" w="357188">
                <a:moveTo>
                  <a:pt x="0" y="0"/>
                </a:moveTo>
                <a:lnTo>
                  <a:pt x="357188" y="0"/>
                </a:lnTo>
                <a:lnTo>
                  <a:pt x="357188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57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5900" y="56517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2588" y="5499344"/>
            <a:ext cx="66198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11 Filtros implementados.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5900" y="61089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2588" y="5956544"/>
            <a:ext cx="66198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Speedup de até 18.8x obtido.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85900" y="65661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2588" y="6413744"/>
            <a:ext cx="66198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Interface funcional e intuitiva.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5900" y="70233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2588" y="6870944"/>
            <a:ext cx="66198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VGA e Full HD testados com sucesso.</a:t>
            </a:r>
          </a:p>
        </p:txBody>
      </p:sp>
      <p:sp>
        <p:nvSpPr>
          <p:cNvPr name="Freeform 18" id="18" descr="image.png"/>
          <p:cNvSpPr/>
          <p:nvPr/>
        </p:nvSpPr>
        <p:spPr>
          <a:xfrm flipH="false" flipV="false" rot="0">
            <a:off x="10015538" y="4499219"/>
            <a:ext cx="300038" cy="400050"/>
          </a:xfrm>
          <a:custGeom>
            <a:avLst/>
            <a:gdLst/>
            <a:ahLst/>
            <a:cxnLst/>
            <a:rect r="r" b="b" t="t" l="l"/>
            <a:pathLst>
              <a:path h="400050" w="300038">
                <a:moveTo>
                  <a:pt x="0" y="0"/>
                </a:moveTo>
                <a:lnTo>
                  <a:pt x="300037" y="0"/>
                </a:lnTo>
                <a:lnTo>
                  <a:pt x="300037" y="400050"/>
                </a:lnTo>
                <a:lnTo>
                  <a:pt x="0" y="4000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3571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01275" y="51945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67962" y="5042144"/>
            <a:ext cx="66198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CUDA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é essencial para aplicações críticas em tempo real.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1275" y="61089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367962" y="5956544"/>
            <a:ext cx="66198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OpenMP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é uma ótima alternativa "low-effort" para CPUs.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01275" y="7023344"/>
            <a:ext cx="10001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367962" y="6870944"/>
            <a:ext cx="661987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 gargalo de transferência de memória deve ser considerado.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CONCLUSÃO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 descr="image.png"/>
          <p:cNvSpPr/>
          <p:nvPr/>
        </p:nvSpPr>
        <p:spPr>
          <a:xfrm flipH="false" flipV="false" rot="0">
            <a:off x="5436394" y="5840682"/>
            <a:ext cx="7415212" cy="2371725"/>
          </a:xfrm>
          <a:custGeom>
            <a:avLst/>
            <a:gdLst/>
            <a:ahLst/>
            <a:cxnLst/>
            <a:rect r="r" b="b" t="t" l="l"/>
            <a:pathLst>
              <a:path h="2371725" w="7415212">
                <a:moveTo>
                  <a:pt x="0" y="0"/>
                </a:moveTo>
                <a:lnTo>
                  <a:pt x="7415212" y="0"/>
                </a:lnTo>
                <a:lnTo>
                  <a:pt x="7415212" y="2371725"/>
                </a:lnTo>
                <a:lnTo>
                  <a:pt x="0" y="23717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08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251009" y="2783157"/>
            <a:ext cx="7785973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E94560"/>
                </a:solidFill>
                <a:latin typeface="Rajdhani Bold"/>
                <a:ea typeface="Rajdhani Bold"/>
                <a:cs typeface="Rajdhani Bold"/>
                <a:sym typeface="Rajdhani Bold"/>
              </a:rPr>
              <a:t>PERGUNTAS?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36394" y="4354782"/>
            <a:ext cx="7415212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Obrigado pela atenção!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22181" y="6255020"/>
            <a:ext cx="6243638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2250">
                <a:solidFill>
                  <a:srgbClr val="334155"/>
                </a:solidFill>
                <a:latin typeface="Roboto Bold"/>
                <a:ea typeface="Roboto Bold"/>
                <a:cs typeface="Roboto Bold"/>
                <a:sym typeface="Roboto Bold"/>
              </a:rPr>
              <a:t>Contato:</a:t>
            </a: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contatodayanfa@gmail.com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22091" y="7014987"/>
            <a:ext cx="5443818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Código fonte disponível no github dayanfa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image.png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0229850"/>
            <a:ext cx="18288000" cy="57150"/>
            <a:chOff x="0" y="0"/>
            <a:chExt cx="2438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57250" y="5383711"/>
            <a:ext cx="16573500" cy="14288"/>
            <a:chOff x="0" y="0"/>
            <a:chExt cx="2209800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5383711"/>
            <a:ext cx="16573500" cy="14288"/>
            <a:chOff x="0" y="0"/>
            <a:chExt cx="2209800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857250" y="6858000"/>
            <a:ext cx="16573500" cy="14288"/>
            <a:chOff x="0" y="0"/>
            <a:chExt cx="22098000" cy="190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6858000"/>
            <a:ext cx="16573500" cy="14288"/>
            <a:chOff x="0" y="0"/>
            <a:chExt cx="22098000" cy="19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98000" cy="19050"/>
            </a:xfrm>
            <a:custGeom>
              <a:avLst/>
              <a:gdLst/>
              <a:ahLst/>
              <a:cxnLst/>
              <a:rect r="r" b="b" t="t" l="l"/>
              <a:pathLst>
                <a:path h="1905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75757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 descr="image.png"/>
          <p:cNvSpPr/>
          <p:nvPr/>
        </p:nvSpPr>
        <p:spPr>
          <a:xfrm flipH="false" flipV="false" rot="0">
            <a:off x="857250" y="4444975"/>
            <a:ext cx="1285875" cy="714375"/>
          </a:xfrm>
          <a:custGeom>
            <a:avLst/>
            <a:gdLst/>
            <a:ahLst/>
            <a:cxnLst/>
            <a:rect r="r" b="b" t="t" l="l"/>
            <a:pathLst>
              <a:path h="714375" w="1285875">
                <a:moveTo>
                  <a:pt x="0" y="0"/>
                </a:moveTo>
                <a:lnTo>
                  <a:pt x="1285875" y="0"/>
                </a:lnTo>
                <a:lnTo>
                  <a:pt x="128587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0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500312" y="4320854"/>
            <a:ext cx="14930438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https://images.stockcake.com/public/d/0/f/d0fac4f3-29a3-4b80-9504-b9c2564a5906_large/futuristic-server-room-stockcake.jpg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0312" y="4670374"/>
            <a:ext cx="14930438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stockcake.com</a:t>
            </a:r>
          </a:p>
        </p:txBody>
      </p:sp>
      <p:sp>
        <p:nvSpPr>
          <p:cNvPr name="Freeform 16" id="16" descr="image.png"/>
          <p:cNvSpPr/>
          <p:nvPr/>
        </p:nvSpPr>
        <p:spPr>
          <a:xfrm flipH="false" flipV="false" rot="0">
            <a:off x="857250" y="5770807"/>
            <a:ext cx="1285875" cy="714375"/>
          </a:xfrm>
          <a:custGeom>
            <a:avLst/>
            <a:gdLst/>
            <a:ahLst/>
            <a:cxnLst/>
            <a:rect r="r" b="b" t="t" l="l"/>
            <a:pathLst>
              <a:path h="714375" w="1285875">
                <a:moveTo>
                  <a:pt x="0" y="0"/>
                </a:moveTo>
                <a:lnTo>
                  <a:pt x="1285875" y="0"/>
                </a:lnTo>
                <a:lnTo>
                  <a:pt x="128587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00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500312" y="5498011"/>
            <a:ext cx="14930438" cy="70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https://static.vecteezy.com/system/resources/thumbnails/071/758/951/small/macro-shot-of-computer-chip-with-glowing-circuit-processor-at-heart-of-digital-data-technology-microchip-and-futuristic-lighting-create-powerful-advanced-feeling-photo.jpeg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00312" y="6144663"/>
            <a:ext cx="14930438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</a:p>
        </p:txBody>
      </p:sp>
      <p:sp>
        <p:nvSpPr>
          <p:cNvPr name="Freeform 19" id="19" descr="image.png"/>
          <p:cNvSpPr/>
          <p:nvPr/>
        </p:nvSpPr>
        <p:spPr>
          <a:xfrm flipH="false" flipV="false" rot="0">
            <a:off x="857250" y="7096420"/>
            <a:ext cx="1285875" cy="714375"/>
          </a:xfrm>
          <a:custGeom>
            <a:avLst/>
            <a:gdLst/>
            <a:ahLst/>
            <a:cxnLst/>
            <a:rect r="r" b="b" t="t" l="l"/>
            <a:pathLst>
              <a:path h="714375" w="1285875">
                <a:moveTo>
                  <a:pt x="0" y="0"/>
                </a:moveTo>
                <a:lnTo>
                  <a:pt x="1285875" y="0"/>
                </a:lnTo>
                <a:lnTo>
                  <a:pt x="128587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200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500312" y="6972300"/>
            <a:ext cx="14930438" cy="411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462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https://flyywh.github.io/CVPRW2019LowLight/DARK%20FACE_%20Face%20Detection%20in%20Low%20Light%20Condition_files/intro.png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500312" y="7321820"/>
            <a:ext cx="14930438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flyywh.github.io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1426293"/>
            <a:ext cx="17102138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1A1A2E"/>
                </a:solidFill>
                <a:latin typeface="Rajdhani"/>
                <a:ea typeface="Rajdhani"/>
                <a:cs typeface="Rajdhani"/>
                <a:sym typeface="Rajdhani"/>
              </a:rPr>
              <a:t>IMAGE SOURCES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57250" y="1426293"/>
            <a:ext cx="114300" cy="885825"/>
            <a:chOff x="0" y="0"/>
            <a:chExt cx="152400" cy="1181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4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E94560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DAG7s8wQRx8</dc:identifier>
  <dcterms:modified xsi:type="dcterms:W3CDTF">2011-08-01T06:04:30Z</dcterms:modified>
  <cp:revision>1</cp:revision>
  <dc:title>PAVIC LAB 2025 (Light Theme).pptx</dc:title>
</cp:coreProperties>
</file>